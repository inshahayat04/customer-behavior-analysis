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 Medium"/>
      <p:regular r:id="rId17"/>
    </p:embeddedFont>
    <p:embeddedFont>
      <p:font typeface="Barlow Medium"/>
      <p:regular r:id="rId18"/>
    </p:embeddedFont>
    <p:embeddedFont>
      <p:font typeface="Barlow Medium"/>
      <p:regular r:id="rId19"/>
    </p:embeddedFont>
    <p:embeddedFont>
      <p:font typeface="Barlow Medium"/>
      <p:regular r:id="rId20"/>
    </p:embeddedFont>
    <p:embeddedFont>
      <p:font typeface="Barlow"/>
      <p:regular r:id="rId21"/>
    </p:embeddedFont>
    <p:embeddedFont>
      <p:font typeface="Barlow"/>
      <p:regular r:id="rId22"/>
    </p:embeddedFont>
    <p:embeddedFont>
      <p:font typeface="Barlow"/>
      <p:regular r:id="rId23"/>
    </p:embeddedFont>
    <p:embeddedFont>
      <p:font typeface="Barl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651284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Shopping Behavior Analysis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4393168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Uncovering spending patterns, customer segments, and product preferences from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3,900 transactions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guide strategic business decisions.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8332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Dataset at a Glance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186226"/>
            <a:ext cx="62968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3,900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640806" y="330934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Transactions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469505" y="2186226"/>
            <a:ext cx="62968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246275" y="330934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 Columns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864037" y="4269343"/>
            <a:ext cx="62968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37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640806" y="539246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Missing Values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864037" y="5883473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Review Rating column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69505" y="4269343"/>
            <a:ext cx="62968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$59.76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9246275" y="539246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Avg Purchase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864037" y="6556177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Features include demographics, purchase details, and shopping behavior — 37 missing Review Ratings imputed by category median.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981432"/>
            <a:ext cx="638734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 Preparation in Python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2037517"/>
            <a:ext cx="7415927" cy="1835706"/>
          </a:xfrm>
          <a:prstGeom prst="roundRect">
            <a:avLst>
              <a:gd name="adj" fmla="val 797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33557" y="2037517"/>
            <a:ext cx="121920" cy="1835706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</p:sp>
      <p:sp>
        <p:nvSpPr>
          <p:cNvPr id="6" name="Text 3"/>
          <p:cNvSpPr/>
          <p:nvPr/>
        </p:nvSpPr>
        <p:spPr>
          <a:xfrm>
            <a:off x="1232773" y="231481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Clean &amp; Standardize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232773" y="2805827"/>
            <a:ext cx="676989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Snake_case columns, null checks, median imputation for Review Rating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4037" y="4120039"/>
            <a:ext cx="7415927" cy="1440656"/>
          </a:xfrm>
          <a:prstGeom prst="roundRect">
            <a:avLst>
              <a:gd name="adj" fmla="val 10155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557" y="4120039"/>
            <a:ext cx="121920" cy="1440656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</p:sp>
      <p:sp>
        <p:nvSpPr>
          <p:cNvPr id="10" name="Text 7"/>
          <p:cNvSpPr/>
          <p:nvPr/>
        </p:nvSpPr>
        <p:spPr>
          <a:xfrm>
            <a:off x="1232773" y="439733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Feature Engineering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232773" y="4888349"/>
            <a:ext cx="67698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Created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highlight>
                  <a:srgbClr val="2624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bins and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highlight>
                  <a:srgbClr val="2624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4037" y="5807512"/>
            <a:ext cx="7415927" cy="1440656"/>
          </a:xfrm>
          <a:prstGeom prst="roundRect">
            <a:avLst>
              <a:gd name="adj" fmla="val 10155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3557" y="5807512"/>
            <a:ext cx="121920" cy="1440656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</p:sp>
      <p:sp>
        <p:nvSpPr>
          <p:cNvPr id="14" name="Text 11"/>
          <p:cNvSpPr/>
          <p:nvPr/>
        </p:nvSpPr>
        <p:spPr>
          <a:xfrm>
            <a:off x="1232773" y="6084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Database Load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232773" y="6575822"/>
            <a:ext cx="67698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Cleaned DataFrame loaded into PostgreSQL for SQL analysis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587103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by Gender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2920841"/>
            <a:ext cx="6150054" cy="40237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3929" y="289000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Insight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623929" y="3479721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Male customers generated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2.1× more revenue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than female customers across 3,900 transactions.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92185"/>
            <a:ext cx="587704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Top Products &amp; Shipping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59508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Top 5 by Rating</a:t>
            </a:r>
            <a:endParaRPr lang="en-US" sz="2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3215640"/>
            <a:ext cx="6150054" cy="40237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3929" y="259508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Shipping Comparison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623929" y="3184803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 shipping averages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$60.48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vs. Standard at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$58.46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minimal difference.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710214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Subscribers vs. Non-Subscribers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3452098"/>
            <a:ext cx="7415927" cy="1410176"/>
          </a:xfrm>
          <a:prstGeom prst="roundRect">
            <a:avLst>
              <a:gd name="adj" fmla="val 7353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6093" y="371415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Subscribers — 27%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126093" y="4205168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1,053 customers · $59.49 avg spend ·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$62,645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total revenue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4037" y="5109091"/>
            <a:ext cx="7415927" cy="1410176"/>
          </a:xfrm>
          <a:prstGeom prst="roundRect">
            <a:avLst>
              <a:gd name="adj" fmla="val 7353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6093" y="5371148"/>
            <a:ext cx="28359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Non-Subscribers — 73%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126093" y="5862161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2,847 customers · $59.87 avg spend ·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$170,436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total revenue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92185"/>
            <a:ext cx="1067061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Discount Dependency &amp; Customer Segments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595086"/>
            <a:ext cx="31470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Most Discounted Products</a:t>
            </a:r>
            <a:endParaRPr lang="en-US" sz="2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3215640"/>
            <a:ext cx="6150054" cy="40237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3929" y="259508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Segments</a:t>
            </a:r>
            <a:endParaRPr lang="en-US" sz="2150" dirty="0"/>
          </a:p>
        </p:txBody>
      </p:sp>
      <p:sp>
        <p:nvSpPr>
          <p:cNvPr id="6" name="Shape 3"/>
          <p:cNvSpPr/>
          <p:nvPr/>
        </p:nvSpPr>
        <p:spPr>
          <a:xfrm>
            <a:off x="7623929" y="3215640"/>
            <a:ext cx="2951559" cy="1508879"/>
          </a:xfrm>
          <a:prstGeom prst="roundRect">
            <a:avLst>
              <a:gd name="adj" fmla="val 6872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85986" y="3477697"/>
            <a:ext cx="242744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Loyal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885986" y="4067413"/>
            <a:ext cx="242744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3,116 customers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0822305" y="3215640"/>
            <a:ext cx="2951678" cy="1508879"/>
          </a:xfrm>
          <a:prstGeom prst="roundRect">
            <a:avLst>
              <a:gd name="adj" fmla="val 6872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84362" y="3477697"/>
            <a:ext cx="242756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Returning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1084362" y="4067413"/>
            <a:ext cx="242756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701 customers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623929" y="4971336"/>
            <a:ext cx="6150054" cy="1508879"/>
          </a:xfrm>
          <a:prstGeom prst="roundRect">
            <a:avLst>
              <a:gd name="adj" fmla="val 6872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85986" y="523339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New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85986" y="5823109"/>
            <a:ext cx="562594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83 customers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587103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by Age Group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2920841"/>
            <a:ext cx="6150054" cy="40237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3929" y="289000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Insight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623929" y="3479721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Young Adults lead revenue contribution. Revenue is relatively evenly distributed across all age groups.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636752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Power BI Dashboard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037" y="2692837"/>
            <a:ext cx="493752" cy="4937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66399" y="277760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Subscription Split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666399" y="3268623"/>
            <a:ext cx="661356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27% subscribers vs. 73% non-subscribers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037" y="4157424"/>
            <a:ext cx="493752" cy="4937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66399" y="424219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by Category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666399" y="4733211"/>
            <a:ext cx="661356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Clothing, Accessories, Footwear, Outerwear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037" y="5622012"/>
            <a:ext cx="493752" cy="4937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66399" y="57067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3.9K Customers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1666399" y="6197798"/>
            <a:ext cx="661356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Avg purchase $59.76 · Avg rating 3.75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073944"/>
            <a:ext cx="676477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Business Recommendations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2948" y="2137708"/>
            <a:ext cx="370284" cy="3702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52680" y="21300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Boost Subscriptions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152680" y="2621042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Promote exclusive subscriber benefits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2948" y="3517523"/>
            <a:ext cx="370284" cy="3702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52680" y="350984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Loyalty Programs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152680" y="4000857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Reward repeat buyers to grow Loyal segment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2948" y="4897338"/>
            <a:ext cx="370284" cy="3702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52680" y="4889659"/>
            <a:ext cx="27515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Review Discount Policy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152680" y="538067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Balance sales lift with margin control</a:t>
            </a:r>
            <a:endParaRPr lang="en-US" sz="1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42948" y="6277154"/>
            <a:ext cx="370284" cy="3702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52680" y="626947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7152680" y="6760488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on high-revenue age groups &amp; express-shipping users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2026-04-19T11:20:13Z</dcterms:created>
  <dcterms:modified xsi:type="dcterms:W3CDTF">2026-04-19T11:20:13Z</dcterms:modified>
</cp:coreProperties>
</file>